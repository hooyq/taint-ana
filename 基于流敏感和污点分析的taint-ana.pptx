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4" r:id="rId6"/>
    <p:sldId id="260" r:id="rId7"/>
    <p:sldId id="261" r:id="rId8"/>
    <p:sldId id="263" r:id="rId9"/>
    <p:sldId id="265" r:id="rId10"/>
    <p:sldId id="266" r:id="rId11"/>
    <p:sldId id="262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0" d="100"/>
          <a:sy n="80" d="100"/>
        </p:scale>
        <p:origin x="78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BA2834C-FAFA-4472-AD5F-6772A9816CDA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DF755B-3670-429F-AC03-08A3C71FBF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06061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C1E26C-C559-40BF-9EBD-9AD90F439AF1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C17F9FF6-5C74-40C9-B9B6-47801D62E1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85083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C1E26C-C559-40BF-9EBD-9AD90F439AF1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7F9FF6-5C74-40C9-B9B6-47801D62E1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52407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C1E26C-C559-40BF-9EBD-9AD90F439AF1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C17F9FF6-5C74-40C9-B9B6-47801D62E1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37554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C1E26C-C559-40BF-9EBD-9AD90F439AF1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C17F9FF6-5C74-40C9-B9B6-47801D62E1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32900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C1E26C-C559-40BF-9EBD-9AD90F439AF1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C17F9FF6-5C74-40C9-B9B6-47801D62E1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775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C1E26C-C559-40BF-9EBD-9AD90F439AF1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7F9FF6-5C74-40C9-B9B6-47801D62E1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57571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C1E26C-C559-40BF-9EBD-9AD90F439AF1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7F9FF6-5C74-40C9-B9B6-47801D62E1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82008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C1E26C-C559-40BF-9EBD-9AD90F439AF1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7F9FF6-5C74-40C9-B9B6-47801D62E1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38972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C1E26C-C559-40BF-9EBD-9AD90F439AF1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C17F9FF6-5C74-40C9-B9B6-47801D62E1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31547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描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C1E26C-C559-40BF-9EBD-9AD90F439AF1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C17F9FF6-5C74-40C9-B9B6-47801D62E1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58938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引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C1E26C-C559-40BF-9EBD-9AD90F439AF1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C17F9FF6-5C74-40C9-B9B6-47801D62E12B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86119910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C1E26C-C559-40BF-9EBD-9AD90F439AF1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C17F9FF6-5C74-40C9-B9B6-47801D62E1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717000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言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C1E26C-C559-40BF-9EBD-9AD90F439AF1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C17F9FF6-5C74-40C9-B9B6-47801D62E12B}" type="slidenum">
              <a:rPr lang="en-US" smtClean="0"/>
              <a:t>‹#›</a:t>
            </a:fld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12263486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真或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C1E26C-C559-40BF-9EBD-9AD90F439AF1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C17F9FF6-5C74-40C9-B9B6-47801D62E1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938481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C1E26C-C559-40BF-9EBD-9AD90F439AF1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7F9FF6-5C74-40C9-B9B6-47801D62E1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818238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C1E26C-C559-40BF-9EBD-9AD90F439AF1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7F9FF6-5C74-40C9-B9B6-47801D62E1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82446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C1E26C-C559-40BF-9EBD-9AD90F439AF1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C17F9FF6-5C74-40C9-B9B6-47801D62E1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13457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  <p:sldLayoutId id="2147483709" r:id="rId13"/>
    <p:sldLayoutId id="2147483710" r:id="rId14"/>
    <p:sldLayoutId id="2147483711" r:id="rId15"/>
    <p:sldLayoutId id="2147483712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hooyq/taint-ana" TargetMode="External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0EF6093-2766-ACF4-733D-238D11D036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12988" y="2052046"/>
            <a:ext cx="9717087" cy="1641800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基于流敏感和污点分析的 </a:t>
            </a:r>
            <a:br>
              <a:rPr lang="en-US" altLang="zh-CN" dirty="0"/>
            </a:br>
            <a:r>
              <a:rPr lang="en-US" altLang="zh-CN" dirty="0"/>
              <a:t>Rust</a:t>
            </a:r>
            <a:r>
              <a:rPr lang="zh-CN" altLang="en-US" dirty="0"/>
              <a:t>漏洞挖掘 </a:t>
            </a:r>
            <a:r>
              <a:rPr lang="en-US" altLang="zh-CN" dirty="0"/>
              <a:t>—— </a:t>
            </a:r>
            <a:r>
              <a:rPr lang="en-US" altLang="zh-CN" b="1" i="1" dirty="0"/>
              <a:t>taint-ana</a:t>
            </a:r>
            <a:endParaRPr lang="en-US" b="1" i="1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FDFCD055-88BA-0517-BF63-1FFC377DCC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89188" y="3967754"/>
            <a:ext cx="8915399" cy="1126283"/>
          </a:xfrm>
        </p:spPr>
        <p:txBody>
          <a:bodyPr/>
          <a:lstStyle/>
          <a:p>
            <a:r>
              <a:rPr lang="en-US" dirty="0" err="1"/>
              <a:t>fdse</a:t>
            </a:r>
            <a:r>
              <a:rPr lang="en-US" dirty="0"/>
              <a:t> </a:t>
            </a:r>
            <a:r>
              <a:rPr lang="zh-CN" altLang="en-US" dirty="0"/>
              <a:t>团队</a:t>
            </a:r>
            <a:endParaRPr 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33503A19-36D8-B7AC-D315-31254C81A5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9098" y="355596"/>
            <a:ext cx="2409977" cy="581354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F479EE42-64E1-0644-7473-7408D044DBA5}"/>
              </a:ext>
            </a:extLst>
          </p:cNvPr>
          <p:cNvSpPr txBox="1"/>
          <p:nvPr/>
        </p:nvSpPr>
        <p:spPr>
          <a:xfrm>
            <a:off x="2389188" y="4530895"/>
            <a:ext cx="68846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代码仓库： </a:t>
            </a:r>
            <a:r>
              <a:rPr lang="en-US" altLang="zh-CN" dirty="0"/>
              <a:t>https://github.com/hooyq/taint-ana</a:t>
            </a:r>
            <a:endParaRPr lang="en-US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971C12E3-272B-B7FE-71B0-275C52837DC2}"/>
              </a:ext>
            </a:extLst>
          </p:cNvPr>
          <p:cNvSpPr txBox="1"/>
          <p:nvPr/>
        </p:nvSpPr>
        <p:spPr>
          <a:xfrm>
            <a:off x="295275" y="352175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200" b="1" i="0" dirty="0">
                <a:solidFill>
                  <a:srgbClr val="1F1F1F"/>
                </a:solidFill>
                <a:effectLst/>
                <a:latin typeface="Google Sans"/>
              </a:rPr>
              <a:t>Rust </a:t>
            </a:r>
            <a:r>
              <a:rPr lang="zh-CN" altLang="en-US" sz="3200" b="1" i="0" dirty="0">
                <a:solidFill>
                  <a:srgbClr val="1F1F1F"/>
                </a:solidFill>
                <a:effectLst/>
                <a:latin typeface="Google Sans"/>
              </a:rPr>
              <a:t>语言研究与创新应用赛</a:t>
            </a:r>
            <a:endParaRPr 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22741812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EF52F9A-821B-7555-E395-90FD10D440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5262" y="446088"/>
            <a:ext cx="3505199" cy="976312"/>
          </a:xfrm>
        </p:spPr>
        <p:txBody>
          <a:bodyPr>
            <a:noAutofit/>
          </a:bodyPr>
          <a:lstStyle/>
          <a:p>
            <a:r>
              <a:rPr lang="zh-CN" altLang="en-US" sz="5400" dirty="0">
                <a:latin typeface="SimSun" panose="02010600030101010101" pitchFamily="2" charset="-122"/>
                <a:ea typeface="SimSun" panose="02010600030101010101" pitchFamily="2" charset="-122"/>
              </a:rPr>
              <a:t>目录</a:t>
            </a:r>
            <a:endParaRPr lang="en-US" sz="540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E63B9FF-9129-E792-D5E5-CBA18D3AB1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46387" y="934244"/>
            <a:ext cx="5181600" cy="5414963"/>
          </a:xfrm>
        </p:spPr>
        <p:txBody>
          <a:bodyPr/>
          <a:lstStyle/>
          <a:p>
            <a:r>
              <a:rPr lang="zh-CN" altLang="en-US" sz="3200" dirty="0"/>
              <a:t>背景介绍</a:t>
            </a:r>
            <a:endParaRPr lang="en-US" altLang="zh-CN" sz="3200" dirty="0"/>
          </a:p>
          <a:p>
            <a:r>
              <a:rPr lang="zh-CN" altLang="en-US" sz="3200" dirty="0"/>
              <a:t>设计思路</a:t>
            </a:r>
            <a:endParaRPr lang="en-US" altLang="zh-CN" sz="3200" dirty="0"/>
          </a:p>
          <a:p>
            <a:r>
              <a:rPr lang="zh-CN" altLang="en-US" sz="3200" dirty="0"/>
              <a:t>对比</a:t>
            </a:r>
            <a:endParaRPr lang="en-US" altLang="zh-CN" sz="3200" dirty="0"/>
          </a:p>
          <a:p>
            <a:r>
              <a:rPr lang="zh-CN" altLang="en-US" sz="3200" dirty="0"/>
              <a:t>成果展示</a:t>
            </a:r>
            <a:endParaRPr lang="en-US" altLang="zh-CN" sz="3200" dirty="0"/>
          </a:p>
          <a:p>
            <a:r>
              <a:rPr lang="zh-CN" altLang="en-US" sz="3200" dirty="0"/>
              <a:t>未来展望</a:t>
            </a:r>
            <a:endParaRPr lang="en-US" altLang="zh-CN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28706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7B18D38-CC06-FDBC-D8FD-ABF82B941AC0}"/>
              </a:ext>
            </a:extLst>
          </p:cNvPr>
          <p:cNvSpPr txBox="1">
            <a:spLocks/>
          </p:cNvSpPr>
          <p:nvPr/>
        </p:nvSpPr>
        <p:spPr>
          <a:xfrm>
            <a:off x="1632744" y="542137"/>
            <a:ext cx="3135312" cy="896937"/>
          </a:xfrm>
          <a:prstGeom prst="rect">
            <a:avLst/>
          </a:prstGeom>
        </p:spPr>
        <p:txBody>
          <a:bodyPr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zh-CN" altLang="en-US" sz="4400" dirty="0">
                <a:latin typeface="SimSun" panose="02010600030101010101" pitchFamily="2" charset="-122"/>
                <a:ea typeface="SimSun" panose="02010600030101010101" pitchFamily="2" charset="-122"/>
              </a:rPr>
              <a:t>背景介绍</a:t>
            </a:r>
            <a:endParaRPr lang="en-US" sz="440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7DCE17AD-A02D-517B-395C-2113D32BF376}"/>
              </a:ext>
            </a:extLst>
          </p:cNvPr>
          <p:cNvCxnSpPr/>
          <p:nvPr/>
        </p:nvCxnSpPr>
        <p:spPr>
          <a:xfrm>
            <a:off x="6467475" y="2019300"/>
            <a:ext cx="0" cy="431482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>
            <a:extLst>
              <a:ext uri="{FF2B5EF4-FFF2-40B4-BE49-F238E27FC236}">
                <a16:creationId xmlns:a16="http://schemas.microsoft.com/office/drawing/2014/main" id="{78795DF1-D22A-B0F0-5CD4-094B1BC3207E}"/>
              </a:ext>
            </a:extLst>
          </p:cNvPr>
          <p:cNvSpPr txBox="1"/>
          <p:nvPr/>
        </p:nvSpPr>
        <p:spPr>
          <a:xfrm>
            <a:off x="2307501" y="1539239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显式漏洞</a:t>
            </a:r>
            <a:endParaRPr lang="en-US" sz="2800" b="1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9444DD7-CA29-E7D3-BD12-D552AB899B8A}"/>
              </a:ext>
            </a:extLst>
          </p:cNvPr>
          <p:cNvSpPr txBox="1"/>
          <p:nvPr/>
        </p:nvSpPr>
        <p:spPr>
          <a:xfrm>
            <a:off x="7676285" y="1585209"/>
            <a:ext cx="251543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/>
              <a:t>Unsound </a:t>
            </a:r>
            <a:r>
              <a:rPr lang="zh-CN" altLang="en-US" sz="2800" b="1" dirty="0"/>
              <a:t>漏洞</a:t>
            </a:r>
            <a:endParaRPr lang="en-US" sz="2800" b="1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49B02BF-01E7-FF54-047A-6D755F6F343F}"/>
              </a:ext>
            </a:extLst>
          </p:cNvPr>
          <p:cNvSpPr txBox="1"/>
          <p:nvPr/>
        </p:nvSpPr>
        <p:spPr>
          <a:xfrm>
            <a:off x="1399761" y="2390408"/>
            <a:ext cx="410080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在</a:t>
            </a:r>
            <a:r>
              <a:rPr lang="en-US" altLang="zh-CN" dirty="0"/>
              <a:t>MIR</a:t>
            </a:r>
            <a:r>
              <a:rPr lang="zh-CN" altLang="en-US" dirty="0"/>
              <a:t>上 显式触发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UAF, double free, double lock </a:t>
            </a:r>
            <a:r>
              <a:rPr lang="zh-CN" altLang="en-US" dirty="0"/>
              <a:t>等</a:t>
            </a:r>
            <a:endParaRPr lang="en-US" dirty="0"/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AFE07D56-01DE-34D8-C794-7C44E210D9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504" y="3821261"/>
            <a:ext cx="5539321" cy="2127868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B35A30AD-4D68-0E88-60F5-20CF9B0D90D5}"/>
              </a:ext>
            </a:extLst>
          </p:cNvPr>
          <p:cNvSpPr txBox="1"/>
          <p:nvPr/>
        </p:nvSpPr>
        <p:spPr>
          <a:xfrm>
            <a:off x="1849369" y="6149459"/>
            <a:ext cx="32015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CVE 2019-16140   POC</a:t>
            </a:r>
            <a:endParaRPr lang="en-US" dirty="0"/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C904A2C5-06E6-903C-5F49-EE66F487EF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8950" y="3089978"/>
            <a:ext cx="4858258" cy="1449660"/>
          </a:xfrm>
          <a:prstGeom prst="rect">
            <a:avLst/>
          </a:prstGeom>
        </p:spPr>
      </p:pic>
      <p:sp>
        <p:nvSpPr>
          <p:cNvPr id="15" name="文本框 14">
            <a:extLst>
              <a:ext uri="{FF2B5EF4-FFF2-40B4-BE49-F238E27FC236}">
                <a16:creationId xmlns:a16="http://schemas.microsoft.com/office/drawing/2014/main" id="{EED9E9CA-112D-68CC-FD28-48D3A2762B18}"/>
              </a:ext>
            </a:extLst>
          </p:cNvPr>
          <p:cNvSpPr txBox="1"/>
          <p:nvPr/>
        </p:nvSpPr>
        <p:spPr>
          <a:xfrm>
            <a:off x="6930059" y="4539638"/>
            <a:ext cx="192232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Lifetime annotation </a:t>
            </a:r>
          </a:p>
        </p:txBody>
      </p:sp>
      <p:pic>
        <p:nvPicPr>
          <p:cNvPr id="19" name="图片 18">
            <a:extLst>
              <a:ext uri="{FF2B5EF4-FFF2-40B4-BE49-F238E27FC236}">
                <a16:creationId xmlns:a16="http://schemas.microsoft.com/office/drawing/2014/main" id="{1E2CE134-B3F4-0F58-D5C0-8A2A1F6CE6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30059" y="5158241"/>
            <a:ext cx="4000500" cy="1163545"/>
          </a:xfrm>
          <a:prstGeom prst="rect">
            <a:avLst/>
          </a:prstGeom>
        </p:spPr>
      </p:pic>
      <p:sp>
        <p:nvSpPr>
          <p:cNvPr id="20" name="文本框 19">
            <a:extLst>
              <a:ext uri="{FF2B5EF4-FFF2-40B4-BE49-F238E27FC236}">
                <a16:creationId xmlns:a16="http://schemas.microsoft.com/office/drawing/2014/main" id="{6CD8FD24-6DFA-C389-9FB8-6BFF2C26631C}"/>
              </a:ext>
            </a:extLst>
          </p:cNvPr>
          <p:cNvSpPr txBox="1"/>
          <p:nvPr/>
        </p:nvSpPr>
        <p:spPr>
          <a:xfrm>
            <a:off x="6838950" y="6379069"/>
            <a:ext cx="232948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RUSTSEC-2025-0035  POC</a:t>
            </a:r>
          </a:p>
          <a:p>
            <a:endParaRPr lang="en-US" sz="1400" dirty="0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AD5A4A44-50BE-EF8B-B81C-C36654A24F4B}"/>
              </a:ext>
            </a:extLst>
          </p:cNvPr>
          <p:cNvSpPr txBox="1"/>
          <p:nvPr/>
        </p:nvSpPr>
        <p:spPr>
          <a:xfrm>
            <a:off x="6838950" y="2276038"/>
            <a:ext cx="550544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US" altLang="zh-CN" dirty="0"/>
              <a:t>unsound</a:t>
            </a:r>
            <a:r>
              <a:rPr lang="zh-CN" altLang="en-US" dirty="0"/>
              <a:t>的缺口， 其他地方（跨函数）</a:t>
            </a:r>
            <a:r>
              <a:rPr lang="en-US" altLang="zh-CN" dirty="0"/>
              <a:t>/</a:t>
            </a:r>
            <a:r>
              <a:rPr lang="zh-CN" altLang="en-US" dirty="0"/>
              <a:t>下游调用会触发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7108081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8F912FFC-B905-EF3B-346F-7D81B5C7C8ED}"/>
              </a:ext>
            </a:extLst>
          </p:cNvPr>
          <p:cNvSpPr txBox="1"/>
          <p:nvPr/>
        </p:nvSpPr>
        <p:spPr>
          <a:xfrm>
            <a:off x="1581150" y="767827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/>
              <a:t>设计思路</a:t>
            </a:r>
            <a:endParaRPr lang="en-US" sz="3200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38829F4-DB74-B8EE-1616-2823E064E5F5}"/>
              </a:ext>
            </a:extLst>
          </p:cNvPr>
          <p:cNvSpPr txBox="1"/>
          <p:nvPr/>
        </p:nvSpPr>
        <p:spPr>
          <a:xfrm>
            <a:off x="1753416" y="1790700"/>
            <a:ext cx="6980277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MIR (</a:t>
            </a:r>
            <a:r>
              <a:rPr lang="en-US" dirty="0" err="1"/>
              <a:t>rustc_middle</a:t>
            </a:r>
            <a:r>
              <a:rPr lang="en-US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分别对每个</a:t>
            </a:r>
            <a:r>
              <a:rPr lang="en-US" altLang="zh-CN" dirty="0"/>
              <a:t>function </a:t>
            </a:r>
            <a:r>
              <a:rPr lang="zh-CN" altLang="en-US" dirty="0"/>
              <a:t>的</a:t>
            </a:r>
            <a:r>
              <a:rPr lang="en-US" altLang="zh-CN" dirty="0"/>
              <a:t>mir body</a:t>
            </a:r>
            <a:r>
              <a:rPr lang="zh-CN" altLang="en-US" dirty="0"/>
              <a:t>进行分析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对每一个</a:t>
            </a:r>
            <a:r>
              <a:rPr lang="en-US" altLang="zh-CN" dirty="0"/>
              <a:t>local state</a:t>
            </a:r>
            <a:r>
              <a:rPr lang="zh-CN" altLang="en-US" dirty="0"/>
              <a:t>进行追踪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流敏感算法 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模拟</a:t>
            </a:r>
            <a:r>
              <a:rPr lang="en-US" altLang="zh-CN" dirty="0"/>
              <a:t>flow + </a:t>
            </a:r>
            <a:r>
              <a:rPr lang="zh-CN" altLang="en-US" dirty="0"/>
              <a:t>模拟</a:t>
            </a:r>
            <a:r>
              <a:rPr lang="en-US" altLang="zh-CN" dirty="0"/>
              <a:t>operation + </a:t>
            </a:r>
            <a:r>
              <a:rPr lang="zh-CN" altLang="en-US" dirty="0"/>
              <a:t>回溯算法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加入</a:t>
            </a:r>
            <a:r>
              <a:rPr lang="en-US" altLang="zh-CN" dirty="0"/>
              <a:t>taint analysis, </a:t>
            </a:r>
            <a:r>
              <a:rPr lang="zh-CN" altLang="en-US" dirty="0"/>
              <a:t>实现 漏洞的发现</a:t>
            </a:r>
            <a:endParaRPr lang="en-US" dirty="0"/>
          </a:p>
          <a:p>
            <a:endParaRPr 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C0F70D72-64AF-2AEC-FE37-9C49D91810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46532" y="1060214"/>
            <a:ext cx="4140525" cy="2958350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15696441-64A6-6EBD-C3C8-1C6DA9882C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5019" y="4307201"/>
            <a:ext cx="4680545" cy="883697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3E851BA3-51FC-9238-775E-01556904CC21}"/>
              </a:ext>
            </a:extLst>
          </p:cNvPr>
          <p:cNvSpPr txBox="1"/>
          <p:nvPr/>
        </p:nvSpPr>
        <p:spPr>
          <a:xfrm>
            <a:off x="7446532" y="5310991"/>
            <a:ext cx="40575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Compare ‘local’ in ours and in MIR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19728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4E4076A6-4DA5-3D8B-EAC3-50D82501AB02}"/>
              </a:ext>
            </a:extLst>
          </p:cNvPr>
          <p:cNvSpPr txBox="1"/>
          <p:nvPr/>
        </p:nvSpPr>
        <p:spPr>
          <a:xfrm>
            <a:off x="1609725" y="650728"/>
            <a:ext cx="168347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/>
              <a:t>Example</a:t>
            </a:r>
            <a:endParaRPr lang="en-US" sz="2800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E54405F9-61F8-DEEF-BFBE-3CA32A1994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79" y="2543175"/>
            <a:ext cx="4985771" cy="1915228"/>
          </a:xfrm>
          <a:prstGeom prst="rect">
            <a:avLst/>
          </a:prstGeom>
        </p:spPr>
      </p:pic>
      <p:grpSp>
        <p:nvGrpSpPr>
          <p:cNvPr id="23" name="组合 22">
            <a:extLst>
              <a:ext uri="{FF2B5EF4-FFF2-40B4-BE49-F238E27FC236}">
                <a16:creationId xmlns:a16="http://schemas.microsoft.com/office/drawing/2014/main" id="{34F03BF7-73BE-3991-39CD-8B0E883A0962}"/>
              </a:ext>
            </a:extLst>
          </p:cNvPr>
          <p:cNvGrpSpPr/>
          <p:nvPr/>
        </p:nvGrpSpPr>
        <p:grpSpPr>
          <a:xfrm>
            <a:off x="5753100" y="650728"/>
            <a:ext cx="6543675" cy="5673098"/>
            <a:chOff x="5753100" y="650728"/>
            <a:chExt cx="6543675" cy="5673098"/>
          </a:xfrm>
        </p:grpSpPr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8BDFC758-A1E0-D39E-2E8A-A7464E789532}"/>
                </a:ext>
              </a:extLst>
            </p:cNvPr>
            <p:cNvSpPr/>
            <p:nvPr/>
          </p:nvSpPr>
          <p:spPr>
            <a:xfrm>
              <a:off x="7229475" y="984766"/>
              <a:ext cx="1638300" cy="901184"/>
            </a:xfrm>
            <a:prstGeom prst="rect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Init/ allocate</a:t>
              </a:r>
              <a:endParaRPr lang="en-US" dirty="0"/>
            </a:p>
          </p:txBody>
        </p:sp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2717458D-E5C2-9293-B910-A3EE8512C5C4}"/>
                </a:ext>
              </a:extLst>
            </p:cNvPr>
            <p:cNvSpPr/>
            <p:nvPr/>
          </p:nvSpPr>
          <p:spPr>
            <a:xfrm>
              <a:off x="5753100" y="2659210"/>
              <a:ext cx="1638300" cy="901184"/>
            </a:xfrm>
            <a:prstGeom prst="rect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Other operation</a:t>
              </a:r>
              <a:endParaRPr lang="en-US" dirty="0"/>
            </a:p>
          </p:txBody>
        </p: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C9190687-58C8-35DD-227E-AB21D663F30A}"/>
                </a:ext>
              </a:extLst>
            </p:cNvPr>
            <p:cNvSpPr/>
            <p:nvPr/>
          </p:nvSpPr>
          <p:spPr>
            <a:xfrm>
              <a:off x="8277225" y="3658485"/>
              <a:ext cx="1638300" cy="901184"/>
            </a:xfrm>
            <a:prstGeom prst="rect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Drop(slice)</a:t>
              </a:r>
              <a:endParaRPr lang="en-US" dirty="0"/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A9FAC6D0-1E4B-E348-BF84-9501F11436AB}"/>
                </a:ext>
              </a:extLst>
            </p:cNvPr>
            <p:cNvSpPr/>
            <p:nvPr/>
          </p:nvSpPr>
          <p:spPr>
            <a:xfrm>
              <a:off x="7200899" y="5422642"/>
              <a:ext cx="1762125" cy="901184"/>
            </a:xfrm>
            <a:prstGeom prst="rect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Return (slice)/ </a:t>
              </a:r>
            </a:p>
            <a:p>
              <a:pPr algn="ctr"/>
              <a:r>
                <a:rPr lang="en-US" dirty="0"/>
                <a:t>Use (slice)</a:t>
              </a:r>
            </a:p>
          </p:txBody>
        </p:sp>
        <p:cxnSp>
          <p:nvCxnSpPr>
            <p:cNvPr id="10" name="直接箭头连接符 9">
              <a:extLst>
                <a:ext uri="{FF2B5EF4-FFF2-40B4-BE49-F238E27FC236}">
                  <a16:creationId xmlns:a16="http://schemas.microsoft.com/office/drawing/2014/main" id="{6D804633-55F6-216C-4E2B-6FD9A5B0F2F7}"/>
                </a:ext>
              </a:extLst>
            </p:cNvPr>
            <p:cNvCxnSpPr/>
            <p:nvPr/>
          </p:nvCxnSpPr>
          <p:spPr>
            <a:xfrm flipH="1">
              <a:off x="7229475" y="2057400"/>
              <a:ext cx="561975" cy="485775"/>
            </a:xfrm>
            <a:prstGeom prst="straightConnector1">
              <a:avLst/>
            </a:prstGeom>
            <a:ln>
              <a:headEnd type="none" w="med" len="med"/>
              <a:tailEnd type="arrow" w="med" len="med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79C728EB-06E6-7938-C574-90F1A66A7BEB}"/>
                </a:ext>
              </a:extLst>
            </p:cNvPr>
            <p:cNvSpPr txBox="1"/>
            <p:nvPr/>
          </p:nvSpPr>
          <p:spPr>
            <a:xfrm>
              <a:off x="8479051" y="2398641"/>
              <a:ext cx="4154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…</a:t>
              </a:r>
            </a:p>
          </p:txBody>
        </p:sp>
        <p:cxnSp>
          <p:nvCxnSpPr>
            <p:cNvPr id="13" name="直接箭头连接符 12">
              <a:extLst>
                <a:ext uri="{FF2B5EF4-FFF2-40B4-BE49-F238E27FC236}">
                  <a16:creationId xmlns:a16="http://schemas.microsoft.com/office/drawing/2014/main" id="{43344D55-5144-E3BB-C904-8CEC341AF8C6}"/>
                </a:ext>
              </a:extLst>
            </p:cNvPr>
            <p:cNvCxnSpPr/>
            <p:nvPr/>
          </p:nvCxnSpPr>
          <p:spPr>
            <a:xfrm>
              <a:off x="8286750" y="2300287"/>
              <a:ext cx="809625" cy="1210542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箭头连接符 13">
              <a:extLst>
                <a:ext uri="{FF2B5EF4-FFF2-40B4-BE49-F238E27FC236}">
                  <a16:creationId xmlns:a16="http://schemas.microsoft.com/office/drawing/2014/main" id="{58FAFC81-7CA8-99A6-2B42-165AB39FE19F}"/>
                </a:ext>
              </a:extLst>
            </p:cNvPr>
            <p:cNvCxnSpPr/>
            <p:nvPr/>
          </p:nvCxnSpPr>
          <p:spPr>
            <a:xfrm flipH="1">
              <a:off x="8286750" y="4748323"/>
              <a:ext cx="561975" cy="485775"/>
            </a:xfrm>
            <a:prstGeom prst="straightConnector1">
              <a:avLst/>
            </a:prstGeom>
            <a:ln>
              <a:headEnd type="none" w="med" len="med"/>
              <a:tailEnd type="arrow" w="med" len="med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连接符 15">
              <a:extLst>
                <a:ext uri="{FF2B5EF4-FFF2-40B4-BE49-F238E27FC236}">
                  <a16:creationId xmlns:a16="http://schemas.microsoft.com/office/drawing/2014/main" id="{622AE437-DD4F-C849-EB0D-F90F60E2CA8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772650" y="3924300"/>
              <a:ext cx="581025" cy="184777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E721D2D2-07E9-91F2-4B89-0A647E882141}"/>
                </a:ext>
              </a:extLst>
            </p:cNvPr>
            <p:cNvSpPr txBox="1"/>
            <p:nvPr/>
          </p:nvSpPr>
          <p:spPr>
            <a:xfrm>
              <a:off x="10353675" y="3647412"/>
              <a:ext cx="1943100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The state of “slice” have changed</a:t>
              </a:r>
            </a:p>
            <a:p>
              <a:endParaRPr lang="en-US" sz="1200" dirty="0"/>
            </a:p>
            <a:p>
              <a:r>
                <a:rPr lang="en-US" sz="1200" dirty="0" err="1"/>
                <a:t>Isdropped</a:t>
              </a:r>
              <a:r>
                <a:rPr lang="en-US" sz="1200" dirty="0"/>
                <a:t> = true</a:t>
              </a:r>
            </a:p>
          </p:txBody>
        </p:sp>
        <p:cxnSp>
          <p:nvCxnSpPr>
            <p:cNvPr id="20" name="直接连接符 19">
              <a:extLst>
                <a:ext uri="{FF2B5EF4-FFF2-40B4-BE49-F238E27FC236}">
                  <a16:creationId xmlns:a16="http://schemas.microsoft.com/office/drawing/2014/main" id="{67075B30-B44E-503B-9A49-7460504A9529}"/>
                </a:ext>
              </a:extLst>
            </p:cNvPr>
            <p:cNvCxnSpPr/>
            <p:nvPr/>
          </p:nvCxnSpPr>
          <p:spPr>
            <a:xfrm flipV="1">
              <a:off x="8848725" y="5781675"/>
              <a:ext cx="600075" cy="17145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600C5F75-A4F8-B32E-D1F3-D893DBBCEBC1}"/>
                </a:ext>
              </a:extLst>
            </p:cNvPr>
            <p:cNvSpPr txBox="1"/>
            <p:nvPr/>
          </p:nvSpPr>
          <p:spPr>
            <a:xfrm>
              <a:off x="9472612" y="5637594"/>
              <a:ext cx="2382383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Use after free is detected</a:t>
              </a:r>
            </a:p>
            <a:p>
              <a:endParaRPr lang="en-US" dirty="0"/>
            </a:p>
          </p:txBody>
        </p:sp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id="{F93C3C3B-7D2C-0A02-6873-D9EDBFE8051B}"/>
                </a:ext>
              </a:extLst>
            </p:cNvPr>
            <p:cNvSpPr txBox="1"/>
            <p:nvPr/>
          </p:nvSpPr>
          <p:spPr>
            <a:xfrm>
              <a:off x="7082381" y="650728"/>
              <a:ext cx="188064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MIR Basic Block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0951953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C4412F0F-D2A8-0044-74F0-502EB801E023}"/>
              </a:ext>
            </a:extLst>
          </p:cNvPr>
          <p:cNvSpPr txBox="1"/>
          <p:nvPr/>
        </p:nvSpPr>
        <p:spPr>
          <a:xfrm>
            <a:off x="1771650" y="666750"/>
            <a:ext cx="10054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/>
              <a:t>对比</a:t>
            </a:r>
            <a:endParaRPr lang="en-US" sz="3200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B8FCB81-A924-EEE7-38F0-5A4DA1D0D194}"/>
              </a:ext>
            </a:extLst>
          </p:cNvPr>
          <p:cNvSpPr txBox="1"/>
          <p:nvPr/>
        </p:nvSpPr>
        <p:spPr>
          <a:xfrm>
            <a:off x="1440752" y="1905000"/>
            <a:ext cx="10222670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 err="1"/>
              <a:t>Lockbud</a:t>
            </a:r>
            <a:r>
              <a:rPr lang="en-US" altLang="zh-CN" dirty="0"/>
              <a:t> : UAF, </a:t>
            </a:r>
            <a:r>
              <a:rPr lang="en-US" altLang="zh-CN" dirty="0" err="1"/>
              <a:t>doubleFree</a:t>
            </a:r>
            <a:r>
              <a:rPr lang="en-US" altLang="zh-CN" dirty="0"/>
              <a:t>, double</a:t>
            </a:r>
            <a:r>
              <a:rPr lang="zh-CN" altLang="en-US" dirty="0"/>
              <a:t> </a:t>
            </a:r>
            <a:r>
              <a:rPr lang="en-US" altLang="zh-CN" dirty="0"/>
              <a:t>lock</a:t>
            </a:r>
            <a:r>
              <a:rPr lang="zh-CN" altLang="en-US" dirty="0"/>
              <a:t>等。 针对每一种不同漏洞需要设计不同的</a:t>
            </a:r>
            <a:r>
              <a:rPr lang="en-US" altLang="zh-CN" dirty="0"/>
              <a:t>detector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Rudra : </a:t>
            </a:r>
            <a:r>
              <a:rPr lang="zh-CN" altLang="en-US" dirty="0"/>
              <a:t>特定漏洞 </a:t>
            </a:r>
            <a:r>
              <a:rPr lang="en-US" altLang="zh-CN" dirty="0"/>
              <a:t>– panic safety, higher-order safety invariant, send/sync propagating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 err="1"/>
              <a:t>YuGa</a:t>
            </a:r>
            <a:r>
              <a:rPr lang="en-US" altLang="zh-CN" dirty="0"/>
              <a:t> : Unsound</a:t>
            </a:r>
            <a:r>
              <a:rPr lang="zh-CN" altLang="en-US" dirty="0"/>
              <a:t>漏洞中的 </a:t>
            </a:r>
            <a:r>
              <a:rPr lang="en-US" altLang="zh-CN" dirty="0"/>
              <a:t>lifetime annotation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 err="1"/>
              <a:t>MirChecker</a:t>
            </a:r>
            <a:r>
              <a:rPr lang="en-US" altLang="zh-CN" dirty="0"/>
              <a:t> : </a:t>
            </a:r>
            <a:r>
              <a:rPr lang="zh-CN" altLang="en-US" dirty="0"/>
              <a:t>目前来看很多项目因为</a:t>
            </a:r>
            <a:r>
              <a:rPr lang="en-US" altLang="zh-CN" dirty="0"/>
              <a:t>rust</a:t>
            </a:r>
            <a:r>
              <a:rPr lang="zh-CN" altLang="en-US" dirty="0"/>
              <a:t>版本问题， </a:t>
            </a:r>
            <a:r>
              <a:rPr lang="en-US" altLang="zh-CN" dirty="0" err="1"/>
              <a:t>mirchecker</a:t>
            </a:r>
            <a:r>
              <a:rPr lang="zh-CN" altLang="en-US" dirty="0"/>
              <a:t>都无法使用</a:t>
            </a:r>
            <a:endParaRPr 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5050D54-A2E6-6D31-E409-AF19FF6EB9C9}"/>
              </a:ext>
            </a:extLst>
          </p:cNvPr>
          <p:cNvSpPr txBox="1"/>
          <p:nvPr/>
        </p:nvSpPr>
        <p:spPr>
          <a:xfrm>
            <a:off x="4526340" y="4808875"/>
            <a:ext cx="156966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都不是流敏感</a:t>
            </a:r>
            <a:endParaRPr lang="en-US" altLang="zh-CN" dirty="0"/>
          </a:p>
          <a:p>
            <a:endParaRPr 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A75641C-2FB9-6B58-C3BD-819119326C21}"/>
              </a:ext>
            </a:extLst>
          </p:cNvPr>
          <p:cNvSpPr txBox="1"/>
          <p:nvPr/>
        </p:nvSpPr>
        <p:spPr>
          <a:xfrm>
            <a:off x="4276725" y="5455206"/>
            <a:ext cx="25571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流敏感 重不重要？？？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96668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2F8B80E4-61A4-8BB2-6C52-85FE78F97C8D}"/>
              </a:ext>
            </a:extLst>
          </p:cNvPr>
          <p:cNvSpPr txBox="1"/>
          <p:nvPr/>
        </p:nvSpPr>
        <p:spPr>
          <a:xfrm>
            <a:off x="1592581" y="676275"/>
            <a:ext cx="256031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/>
              <a:t>流敏感 优劣</a:t>
            </a:r>
            <a:endParaRPr lang="en-US" sz="3200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ACF3043E-939E-2E90-8104-8C733171D099}"/>
              </a:ext>
            </a:extLst>
          </p:cNvPr>
          <p:cNvSpPr txBox="1"/>
          <p:nvPr/>
        </p:nvSpPr>
        <p:spPr>
          <a:xfrm>
            <a:off x="1181100" y="2018883"/>
            <a:ext cx="2608406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rabicPeriod"/>
            </a:pPr>
            <a:r>
              <a:rPr lang="zh-CN" altLang="en-US" dirty="0"/>
              <a:t>有上下文信息</a:t>
            </a:r>
            <a:endParaRPr lang="en-US" altLang="zh-CN" dirty="0"/>
          </a:p>
          <a:p>
            <a:pPr marL="342900" indent="-342900">
              <a:buAutoNum type="arabicPeriod"/>
            </a:pPr>
            <a:endParaRPr lang="en-US" altLang="zh-CN" dirty="0"/>
          </a:p>
          <a:p>
            <a:pPr marL="342900" indent="-342900">
              <a:buAutoNum type="arabicPeriod"/>
            </a:pPr>
            <a:r>
              <a:rPr lang="zh-CN" altLang="en-US" dirty="0"/>
              <a:t>有</a:t>
            </a:r>
            <a:r>
              <a:rPr lang="en-US" altLang="zh-CN" dirty="0"/>
              <a:t>data flow</a:t>
            </a:r>
            <a:r>
              <a:rPr lang="zh-CN" altLang="en-US" dirty="0"/>
              <a:t>信息</a:t>
            </a:r>
            <a:endParaRPr lang="en-US" altLang="zh-CN" dirty="0"/>
          </a:p>
          <a:p>
            <a:pPr marL="342900" indent="-342900">
              <a:buAutoNum type="arabicPeriod"/>
            </a:pPr>
            <a:endParaRPr lang="en-US" altLang="zh-CN" dirty="0"/>
          </a:p>
          <a:p>
            <a:pPr marL="342900" indent="-342900">
              <a:buAutoNum type="arabicPeriod"/>
            </a:pPr>
            <a:r>
              <a:rPr lang="zh-CN" altLang="en-US" dirty="0"/>
              <a:t>能够快速扩展</a:t>
            </a:r>
            <a:endParaRPr lang="en-US" altLang="zh-CN" dirty="0"/>
          </a:p>
          <a:p>
            <a:pPr marL="342900" indent="-342900">
              <a:buAutoNum type="arabicPeriod"/>
            </a:pPr>
            <a:endParaRPr lang="en-US" altLang="zh-CN" dirty="0"/>
          </a:p>
          <a:p>
            <a:pPr marL="342900" indent="-342900">
              <a:buAutoNum type="arabicPeriod"/>
            </a:pPr>
            <a:r>
              <a:rPr lang="zh-CN" altLang="en-US" dirty="0"/>
              <a:t>不局限于某一种漏洞</a:t>
            </a:r>
            <a:endParaRPr lang="en-US" altLang="zh-CN" dirty="0"/>
          </a:p>
          <a:p>
            <a:pPr marL="342900" indent="-342900">
              <a:buAutoNum type="arabicPeriod"/>
            </a:pPr>
            <a:endParaRPr 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1D8196EC-DFEF-D5CE-419E-70E57615A4AF}"/>
              </a:ext>
            </a:extLst>
          </p:cNvPr>
          <p:cNvSpPr txBox="1"/>
          <p:nvPr/>
        </p:nvSpPr>
        <p:spPr>
          <a:xfrm>
            <a:off x="5591175" y="2049262"/>
            <a:ext cx="452437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zh-CN" altLang="en-US" dirty="0"/>
              <a:t>实际情况到我们工具的映射， 很多边界条件需要考虑</a:t>
            </a:r>
            <a:endParaRPr lang="en-US" altLang="zh-CN" dirty="0"/>
          </a:p>
          <a:p>
            <a:pPr marL="342900" indent="-342900">
              <a:buAutoNum type="arabicPeriod"/>
            </a:pPr>
            <a:endParaRPr lang="en-US" dirty="0"/>
          </a:p>
          <a:p>
            <a:pPr marL="342900" indent="-342900">
              <a:buAutoNum type="arabicPeriod"/>
            </a:pPr>
            <a:r>
              <a:rPr lang="zh-CN" altLang="en-US" dirty="0"/>
              <a:t>路径爆炸问题 （回溯 </a:t>
            </a:r>
            <a:r>
              <a:rPr lang="en-US" altLang="zh-CN" dirty="0"/>
              <a:t>+ predecessor block)</a:t>
            </a:r>
          </a:p>
          <a:p>
            <a:pPr marL="342900" indent="-342900">
              <a:buAutoNum type="arabicPeriod"/>
            </a:pPr>
            <a:endParaRPr lang="en-US" dirty="0"/>
          </a:p>
          <a:p>
            <a:pPr marL="342900" indent="-342900">
              <a:buAutoNum type="arabicPeriod"/>
            </a:pPr>
            <a:r>
              <a:rPr lang="zh-CN" altLang="en-US" dirty="0"/>
              <a:t>别名分析问题 </a:t>
            </a:r>
            <a:r>
              <a:rPr lang="en-US" altLang="zh-CN" dirty="0"/>
              <a:t>(blacklist)</a:t>
            </a:r>
            <a:endParaRPr 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357029A-7F70-F891-816C-3741DEB75C6B}"/>
              </a:ext>
            </a:extLst>
          </p:cNvPr>
          <p:cNvSpPr txBox="1"/>
          <p:nvPr/>
        </p:nvSpPr>
        <p:spPr>
          <a:xfrm>
            <a:off x="1739265" y="1506319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/>
              <a:t>优势</a:t>
            </a:r>
            <a:endParaRPr lang="en-US" b="1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09F884D-3CAB-584D-6533-E6228BEC8647}"/>
              </a:ext>
            </a:extLst>
          </p:cNvPr>
          <p:cNvSpPr txBox="1"/>
          <p:nvPr/>
        </p:nvSpPr>
        <p:spPr>
          <a:xfrm>
            <a:off x="6948720" y="1506319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/>
              <a:t>问题</a:t>
            </a:r>
            <a:endParaRPr lang="en-US" b="1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4C0D6E47-4EDD-23F4-0150-86E92D73C2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4812" y="4651474"/>
            <a:ext cx="4034273" cy="1619869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E5003A9F-077C-7ECA-99C1-EC4F7EEAC0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9146" y="4511873"/>
            <a:ext cx="3569956" cy="2443461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FD6421FC-5DEF-9BE3-6783-61E3A0B9C8F7}"/>
              </a:ext>
            </a:extLst>
          </p:cNvPr>
          <p:cNvSpPr txBox="1"/>
          <p:nvPr/>
        </p:nvSpPr>
        <p:spPr>
          <a:xfrm>
            <a:off x="10410717" y="4142541"/>
            <a:ext cx="10711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blacklist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6D9E3AE-98BD-E673-CA00-697599B3A126}"/>
              </a:ext>
            </a:extLst>
          </p:cNvPr>
          <p:cNvSpPr txBox="1"/>
          <p:nvPr/>
        </p:nvSpPr>
        <p:spPr>
          <a:xfrm>
            <a:off x="4651564" y="6204245"/>
            <a:ext cx="22317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Predecessor block</a:t>
            </a:r>
          </a:p>
        </p:txBody>
      </p:sp>
    </p:spTree>
    <p:extLst>
      <p:ext uri="{BB962C8B-B14F-4D97-AF65-F5344CB8AC3E}">
        <p14:creationId xmlns:p14="http://schemas.microsoft.com/office/powerpoint/2010/main" val="35794815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56344924-735A-8FD9-D3FE-2EC9D756F066}"/>
              </a:ext>
            </a:extLst>
          </p:cNvPr>
          <p:cNvSpPr txBox="1"/>
          <p:nvPr/>
        </p:nvSpPr>
        <p:spPr>
          <a:xfrm>
            <a:off x="1619250" y="663000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/>
              <a:t>成果展示</a:t>
            </a:r>
            <a:endParaRPr lang="en-US" sz="3200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7AA4D809-6D2E-01AB-4E54-389B32D297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2098" y="1905000"/>
            <a:ext cx="6359915" cy="4102388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67079174-FA1D-4B81-310D-3F61009122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4560" y="2067754"/>
            <a:ext cx="4467090" cy="3577684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80BD7A2B-C0E6-B8F1-47DB-5F5CAC331FD0}"/>
              </a:ext>
            </a:extLst>
          </p:cNvPr>
          <p:cNvSpPr txBox="1"/>
          <p:nvPr/>
        </p:nvSpPr>
        <p:spPr>
          <a:xfrm>
            <a:off x="5581650" y="1535668"/>
            <a:ext cx="13532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Bug report</a:t>
            </a:r>
          </a:p>
        </p:txBody>
      </p: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1454C01E-632B-4821-9BD3-708DFED5089E}"/>
              </a:ext>
            </a:extLst>
          </p:cNvPr>
          <p:cNvCxnSpPr/>
          <p:nvPr/>
        </p:nvCxnSpPr>
        <p:spPr>
          <a:xfrm flipH="1">
            <a:off x="8181975" y="4772025"/>
            <a:ext cx="428625" cy="2571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D6E70319-60B6-20BE-2D72-6E43D49356A8}"/>
              </a:ext>
            </a:extLst>
          </p:cNvPr>
          <p:cNvCxnSpPr/>
          <p:nvPr/>
        </p:nvCxnSpPr>
        <p:spPr>
          <a:xfrm flipH="1">
            <a:off x="7972425" y="2457450"/>
            <a:ext cx="390525" cy="1333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08040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AF154A4B-C90C-9DC4-5EDF-9A1210C2D224}"/>
              </a:ext>
            </a:extLst>
          </p:cNvPr>
          <p:cNvSpPr txBox="1"/>
          <p:nvPr/>
        </p:nvSpPr>
        <p:spPr>
          <a:xfrm>
            <a:off x="1600200" y="590550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/>
              <a:t>成果展示</a:t>
            </a:r>
            <a:endParaRPr lang="en-US" sz="3200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E5E5ECE2-422E-9B16-3B46-EC7CC2E77B86}"/>
              </a:ext>
            </a:extLst>
          </p:cNvPr>
          <p:cNvSpPr txBox="1"/>
          <p:nvPr/>
        </p:nvSpPr>
        <p:spPr>
          <a:xfrm>
            <a:off x="1857375" y="1537829"/>
            <a:ext cx="8305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https://gitcode.com/openharmony/sensors_sensor/pull/887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C1FF7F99-52E8-1146-1E3C-A63A8761F4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225" y="1907161"/>
            <a:ext cx="11134725" cy="1819542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DE4DA094-1031-2AA9-66BF-491D8EFFB2B5}"/>
              </a:ext>
            </a:extLst>
          </p:cNvPr>
          <p:cNvSpPr txBox="1"/>
          <p:nvPr/>
        </p:nvSpPr>
        <p:spPr>
          <a:xfrm>
            <a:off x="1990725" y="5010150"/>
            <a:ext cx="827181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** </a:t>
            </a:r>
            <a:r>
              <a:rPr lang="zh-CN" altLang="en-US" dirty="0"/>
              <a:t>目前我们后续项目的扩展已经迁移到 </a:t>
            </a:r>
            <a:r>
              <a:rPr lang="en-US" altLang="zh-CN" dirty="0">
                <a:hlinkClick r:id="rId3"/>
              </a:rPr>
              <a:t>https://github.com/hooyq/taint-ana</a:t>
            </a:r>
            <a:endParaRPr lang="en-US" altLang="zh-CN" dirty="0"/>
          </a:p>
          <a:p>
            <a:endParaRPr lang="en-US" dirty="0"/>
          </a:p>
          <a:p>
            <a:r>
              <a:rPr lang="zh-CN" altLang="en-US" dirty="0"/>
              <a:t>（因为之前使用的</a:t>
            </a:r>
            <a:r>
              <a:rPr lang="en-US" altLang="zh-CN" dirty="0" err="1"/>
              <a:t>rustc_public</a:t>
            </a:r>
            <a:r>
              <a:rPr lang="zh-CN" altLang="en-US" dirty="0"/>
              <a:t>实际在跑项目的时候会遇到问题）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4389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6639A0-EF94-6289-EB70-E2C96B4276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42A78135-08E7-304D-A932-70901E2D84C3}"/>
              </a:ext>
            </a:extLst>
          </p:cNvPr>
          <p:cNvSpPr txBox="1"/>
          <p:nvPr/>
        </p:nvSpPr>
        <p:spPr>
          <a:xfrm>
            <a:off x="1609725" y="714375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/>
              <a:t>未来展望</a:t>
            </a:r>
            <a:endParaRPr lang="en-US" sz="2800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15D9889B-2094-A05F-5D2E-AA675D2E82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7997" y="1470423"/>
            <a:ext cx="9315450" cy="5239940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00249A01-D131-4119-CC68-6F1B6CE19DC0}"/>
              </a:ext>
            </a:extLst>
          </p:cNvPr>
          <p:cNvSpPr txBox="1"/>
          <p:nvPr/>
        </p:nvSpPr>
        <p:spPr>
          <a:xfrm>
            <a:off x="6267450" y="170604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FF0000"/>
                </a:solidFill>
              </a:rPr>
              <a:t>Status, Operation, Detection</a:t>
            </a:r>
          </a:p>
        </p:txBody>
      </p:sp>
    </p:spTree>
    <p:extLst>
      <p:ext uri="{BB962C8B-B14F-4D97-AF65-F5344CB8AC3E}">
        <p14:creationId xmlns:p14="http://schemas.microsoft.com/office/powerpoint/2010/main" val="29617143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69629629-3B8C-9AD8-D909-85C97EBD92EE}"/>
              </a:ext>
            </a:extLst>
          </p:cNvPr>
          <p:cNvSpPr txBox="1"/>
          <p:nvPr/>
        </p:nvSpPr>
        <p:spPr>
          <a:xfrm>
            <a:off x="3189284" y="2495550"/>
            <a:ext cx="67072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漏洞挖掘的工具 </a:t>
            </a:r>
            <a:r>
              <a:rPr lang="en-US" altLang="zh-CN" sz="2800" dirty="0">
                <a:sym typeface="Wingdings" panose="05000000000000000000" pitchFamily="2" charset="2"/>
              </a:rPr>
              <a:t>  </a:t>
            </a:r>
            <a:r>
              <a:rPr lang="zh-CN" altLang="en-US" sz="2800" dirty="0">
                <a:sym typeface="Wingdings" panose="05000000000000000000" pitchFamily="2" charset="2"/>
              </a:rPr>
              <a:t>流敏感的分析工具 ？？</a:t>
            </a:r>
            <a:r>
              <a:rPr lang="zh-CN" altLang="en-US" sz="2800" dirty="0"/>
              <a:t> </a:t>
            </a:r>
            <a:endParaRPr lang="en-US" sz="2800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25F29DA8-1816-54C7-B645-776E5B1FE329}"/>
              </a:ext>
            </a:extLst>
          </p:cNvPr>
          <p:cNvSpPr txBox="1"/>
          <p:nvPr/>
        </p:nvSpPr>
        <p:spPr>
          <a:xfrm>
            <a:off x="4486275" y="3687544"/>
            <a:ext cx="404469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+ taint analysis </a:t>
            </a:r>
            <a:r>
              <a:rPr lang="en-US" sz="2400" dirty="0">
                <a:sym typeface="Wingdings" panose="05000000000000000000" pitchFamily="2" charset="2"/>
              </a:rPr>
              <a:t> </a:t>
            </a:r>
            <a:r>
              <a:rPr lang="zh-CN" altLang="en-US" sz="2400" dirty="0"/>
              <a:t>漏洞挖掘</a:t>
            </a:r>
            <a:endParaRPr lang="en-US" altLang="zh-CN" sz="2400" dirty="0"/>
          </a:p>
          <a:p>
            <a:r>
              <a:rPr lang="en-US" sz="2400" dirty="0"/>
              <a:t>+ </a:t>
            </a:r>
            <a:r>
              <a:rPr lang="zh-CN" altLang="en-US" sz="2400" dirty="0"/>
              <a:t>大模型      </a:t>
            </a:r>
            <a:r>
              <a:rPr lang="en-US" altLang="zh-CN" sz="2400" dirty="0">
                <a:sym typeface="Wingdings" panose="05000000000000000000" pitchFamily="2" charset="2"/>
              </a:rPr>
              <a:t>    </a:t>
            </a:r>
            <a:r>
              <a:rPr lang="zh-CN" altLang="en-US" sz="2400" dirty="0"/>
              <a:t>更多扩展</a:t>
            </a:r>
            <a:endParaRPr lang="en-US" sz="2400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8E283C6-226B-E38D-2FCE-E24331A98953}"/>
              </a:ext>
            </a:extLst>
          </p:cNvPr>
          <p:cNvSpPr txBox="1"/>
          <p:nvPr/>
        </p:nvSpPr>
        <p:spPr>
          <a:xfrm>
            <a:off x="1628775" y="657225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/>
              <a:t>未来展望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3180577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CC14B3C0-7BDA-6D5B-B62E-4734FD83FA1D}"/>
              </a:ext>
            </a:extLst>
          </p:cNvPr>
          <p:cNvSpPr txBox="1"/>
          <p:nvPr/>
        </p:nvSpPr>
        <p:spPr>
          <a:xfrm>
            <a:off x="3562350" y="2839521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5400" dirty="0"/>
              <a:t>恳请各位老师指正</a:t>
            </a:r>
            <a:endParaRPr lang="en-US" sz="5400" dirty="0"/>
          </a:p>
        </p:txBody>
      </p:sp>
    </p:spTree>
    <p:extLst>
      <p:ext uri="{BB962C8B-B14F-4D97-AF65-F5344CB8AC3E}">
        <p14:creationId xmlns:p14="http://schemas.microsoft.com/office/powerpoint/2010/main" val="2722721080"/>
      </p:ext>
    </p:extLst>
  </p:cSld>
  <p:clrMapOvr>
    <a:masterClrMapping/>
  </p:clrMapOvr>
</p:sld>
</file>

<file path=ppt/theme/theme1.xml><?xml version="1.0" encoding="utf-8"?>
<a:theme xmlns:a="http://schemas.openxmlformats.org/drawingml/2006/main" name="丝状">
  <a:themeElements>
    <a:clrScheme name="丝状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丝状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丝状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319</TotalTime>
  <Words>394</Words>
  <Application>Microsoft Office PowerPoint</Application>
  <PresentationFormat>宽屏</PresentationFormat>
  <Paragraphs>85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0" baseType="lpstr">
      <vt:lpstr>Google Sans</vt:lpstr>
      <vt:lpstr>SimSun</vt:lpstr>
      <vt:lpstr>Arial</vt:lpstr>
      <vt:lpstr>Calibri</vt:lpstr>
      <vt:lpstr>Century Gothic</vt:lpstr>
      <vt:lpstr>Wingdings</vt:lpstr>
      <vt:lpstr>Wingdings 3</vt:lpstr>
      <vt:lpstr>丝状</vt:lpstr>
      <vt:lpstr>基于流敏感和污点分析的  Rust漏洞挖掘 —— taint-ana</vt:lpstr>
      <vt:lpstr>目录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Yen Qin hoo</dc:creator>
  <cp:lastModifiedBy>Yen Qin hoo</cp:lastModifiedBy>
  <cp:revision>2</cp:revision>
  <dcterms:created xsi:type="dcterms:W3CDTF">2026-01-06T06:55:23Z</dcterms:created>
  <dcterms:modified xsi:type="dcterms:W3CDTF">2026-01-06T12:14:54Z</dcterms:modified>
</cp:coreProperties>
</file>